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8288000" cy="10287000"/>
  <p:notesSz cx="6858000" cy="9144000"/>
  <p:embeddedFontLst>
    <p:embeddedFont>
      <p:font typeface="Avenir Next Condensed" panose="020B0506020202020204" pitchFamily="34" charset="0"/>
      <p:regular r:id="rId15"/>
      <p:bold r:id="rId16"/>
      <p:italic r:id="rId17"/>
      <p:boldItalic r:id="rId18"/>
    </p:embeddedFont>
    <p:embeddedFont>
      <p:font typeface="Crusoe Text" pitchFamily="2" charset="77"/>
      <p:regular r:id="rId19"/>
    </p:embeddedFont>
    <p:embeddedFont>
      <p:font typeface="Crusoe Text Bold" pitchFamily="2" charset="7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 autoAdjust="0"/>
    <p:restoredTop sz="94589" autoAdjust="0"/>
  </p:normalViewPr>
  <p:slideViewPr>
    <p:cSldViewPr>
      <p:cViewPr varScale="1">
        <p:scale>
          <a:sx n="80" d="100"/>
          <a:sy n="80" d="100"/>
        </p:scale>
        <p:origin x="20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73BD4-D09B-C546-814B-6E77CE8F0BF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70CAA-5867-0A4A-8647-39B528F3C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79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70CAA-5867-0A4A-8647-39B528F3C4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18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111" b="-6111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028700" y="638770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60"/>
                </a:lnTo>
                <a:lnTo>
                  <a:pt x="0" y="77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76442" y="2605340"/>
            <a:ext cx="9185798" cy="577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8"/>
              </a:lnSpc>
            </a:pPr>
            <a:r>
              <a:rPr lang="en-US" sz="14958" b="1" dirty="0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BRIGHT</a:t>
            </a:r>
          </a:p>
          <a:p>
            <a:pPr marL="0" lvl="0" indent="0" algn="ctr">
              <a:lnSpc>
                <a:spcPts val="14958"/>
              </a:lnSpc>
            </a:pPr>
            <a:r>
              <a:rPr lang="en-US" sz="14958" b="1" dirty="0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COFFEE SHOP</a:t>
            </a:r>
          </a:p>
        </p:txBody>
      </p:sp>
      <p:sp>
        <p:nvSpPr>
          <p:cNvPr id="5" name="Freeform 5"/>
          <p:cNvSpPr/>
          <p:nvPr/>
        </p:nvSpPr>
        <p:spPr>
          <a:xfrm>
            <a:off x="5540943" y="5988255"/>
            <a:ext cx="466798" cy="466798"/>
          </a:xfrm>
          <a:custGeom>
            <a:avLst/>
            <a:gdLst/>
            <a:ahLst/>
            <a:cxnLst/>
            <a:rect l="l" t="t" r="r" b="b"/>
            <a:pathLst>
              <a:path w="466798" h="466798">
                <a:moveTo>
                  <a:pt x="0" y="0"/>
                </a:moveTo>
                <a:lnTo>
                  <a:pt x="466798" y="0"/>
                </a:lnTo>
                <a:lnTo>
                  <a:pt x="466798" y="466798"/>
                </a:lnTo>
                <a:lnTo>
                  <a:pt x="0" y="466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80259" y="5988255"/>
            <a:ext cx="466798" cy="466798"/>
          </a:xfrm>
          <a:custGeom>
            <a:avLst/>
            <a:gdLst/>
            <a:ahLst/>
            <a:cxnLst/>
            <a:rect l="l" t="t" r="r" b="b"/>
            <a:pathLst>
              <a:path w="466798" h="466798">
                <a:moveTo>
                  <a:pt x="0" y="0"/>
                </a:moveTo>
                <a:lnTo>
                  <a:pt x="466798" y="0"/>
                </a:lnTo>
                <a:lnTo>
                  <a:pt x="466798" y="466798"/>
                </a:lnTo>
                <a:lnTo>
                  <a:pt x="0" y="466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0603" y="5969205"/>
            <a:ext cx="4264618" cy="4264618"/>
          </a:xfrm>
          <a:custGeom>
            <a:avLst/>
            <a:gdLst/>
            <a:ahLst/>
            <a:cxnLst/>
            <a:rect l="l" t="t" r="r" b="b"/>
            <a:pathLst>
              <a:path w="4264618" h="4264618">
                <a:moveTo>
                  <a:pt x="0" y="0"/>
                </a:moveTo>
                <a:lnTo>
                  <a:pt x="4264618" y="0"/>
                </a:lnTo>
                <a:lnTo>
                  <a:pt x="4264618" y="4264618"/>
                </a:lnTo>
                <a:lnTo>
                  <a:pt x="0" y="4264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32809" y="83026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15060" y="8738148"/>
            <a:ext cx="4671456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rusoe Text"/>
                <a:ea typeface="Crusoe Text"/>
                <a:cs typeface="Crusoe Text"/>
                <a:sym typeface="Crusoe Text"/>
              </a:rPr>
              <a:t>BY: VHONANI MPHOSHOMALE</a:t>
            </a:r>
          </a:p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rusoe Text"/>
                <a:ea typeface="Crusoe Text"/>
                <a:cs typeface="Crusoe Text"/>
                <a:sym typeface="Crusoe Text"/>
              </a:rPr>
              <a:t>(DATA ANALYTICS)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7B25F3F6-74A8-731E-CAC1-3A5AE5CCD080}"/>
              </a:ext>
            </a:extLst>
          </p:cNvPr>
          <p:cNvSpPr/>
          <p:nvPr/>
        </p:nvSpPr>
        <p:spPr>
          <a:xfrm>
            <a:off x="13621898" y="111327"/>
            <a:ext cx="4264618" cy="4264618"/>
          </a:xfrm>
          <a:custGeom>
            <a:avLst/>
            <a:gdLst/>
            <a:ahLst/>
            <a:cxnLst/>
            <a:rect l="l" t="t" r="r" b="b"/>
            <a:pathLst>
              <a:path w="4264618" h="4264618">
                <a:moveTo>
                  <a:pt x="0" y="0"/>
                </a:moveTo>
                <a:lnTo>
                  <a:pt x="4264618" y="0"/>
                </a:lnTo>
                <a:lnTo>
                  <a:pt x="4264618" y="4264618"/>
                </a:lnTo>
                <a:lnTo>
                  <a:pt x="0" y="4264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38770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60"/>
                </a:lnTo>
                <a:lnTo>
                  <a:pt x="0" y="77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506908" y="0"/>
            <a:ext cx="5923043" cy="10310818"/>
            <a:chOff x="0" y="0"/>
            <a:chExt cx="467994" cy="9313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7994" cy="931315"/>
            </a:xfrm>
            <a:custGeom>
              <a:avLst/>
              <a:gdLst/>
              <a:ahLst/>
              <a:cxnLst/>
              <a:rect l="l" t="t" r="r" b="b"/>
              <a:pathLst>
                <a:path w="467994" h="931315">
                  <a:moveTo>
                    <a:pt x="30063" y="0"/>
                  </a:moveTo>
                  <a:lnTo>
                    <a:pt x="437931" y="0"/>
                  </a:lnTo>
                  <a:cubicBezTo>
                    <a:pt x="454534" y="0"/>
                    <a:pt x="467994" y="13460"/>
                    <a:pt x="467994" y="30063"/>
                  </a:cubicBezTo>
                  <a:lnTo>
                    <a:pt x="467994" y="901252"/>
                  </a:lnTo>
                  <a:cubicBezTo>
                    <a:pt x="467994" y="909226"/>
                    <a:pt x="464826" y="916872"/>
                    <a:pt x="459188" y="922510"/>
                  </a:cubicBezTo>
                  <a:cubicBezTo>
                    <a:pt x="453550" y="928148"/>
                    <a:pt x="445904" y="931315"/>
                    <a:pt x="437931" y="931315"/>
                  </a:cubicBezTo>
                  <a:lnTo>
                    <a:pt x="30063" y="931315"/>
                  </a:lnTo>
                  <a:cubicBezTo>
                    <a:pt x="13460" y="931315"/>
                    <a:pt x="0" y="917856"/>
                    <a:pt x="0" y="901252"/>
                  </a:cubicBezTo>
                  <a:lnTo>
                    <a:pt x="0" y="30063"/>
                  </a:lnTo>
                  <a:cubicBezTo>
                    <a:pt x="0" y="13460"/>
                    <a:pt x="13460" y="0"/>
                    <a:pt x="30063" y="0"/>
                  </a:cubicBezTo>
                  <a:close/>
                </a:path>
              </a:pathLst>
            </a:custGeom>
            <a:blipFill>
              <a:blip r:embed="rId4"/>
              <a:stretch>
                <a:fillRect l="-16292" r="-1629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16236" y="904875"/>
            <a:ext cx="437354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5457" y="4734651"/>
            <a:ext cx="2748502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LOCATIONS</a:t>
            </a: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:</a:t>
            </a:r>
          </a:p>
          <a:p>
            <a:pPr algn="just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Crusoe Text"/>
              <a:ea typeface="Crusoe Text"/>
              <a:cs typeface="Crusoe Text"/>
              <a:sym typeface="Crusoe Text"/>
            </a:endParaRP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Lower Manhattan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Hell’s Kitchen</a:t>
            </a:r>
          </a:p>
          <a:p>
            <a:pPr marL="388622" lvl="1" indent="-194311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Astoria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024" y="2599438"/>
            <a:ext cx="12526373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Purpose</a:t>
            </a:r>
          </a:p>
          <a:p>
            <a:pPr algn="ctr">
              <a:lnSpc>
                <a:spcPts val="2520"/>
              </a:lnSpc>
            </a:pPr>
            <a:endParaRPr lang="en-US" sz="2399" b="1">
              <a:solidFill>
                <a:srgbClr val="000000"/>
              </a:solidFill>
              <a:latin typeface="Crusoe Text Bold"/>
              <a:ea typeface="Crusoe Text Bold"/>
              <a:cs typeface="Crusoe Text Bold"/>
              <a:sym typeface="Crusoe Text Bold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This analysis evaluates sales performance across products, time periods, and store locations.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6748" y="83026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5457" y="7947432"/>
            <a:ext cx="2748502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Total Revenue:</a:t>
            </a:r>
          </a:p>
          <a:p>
            <a:pPr algn="just">
              <a:lnSpc>
                <a:spcPts val="2520"/>
              </a:lnSpc>
            </a:pPr>
            <a:endParaRPr lang="en-US" sz="1800" b="1">
              <a:solidFill>
                <a:srgbClr val="000000"/>
              </a:solidFill>
              <a:latin typeface="Crusoe Text Bold"/>
              <a:ea typeface="Crusoe Text Bold"/>
              <a:cs typeface="Crusoe Text Bold"/>
              <a:sym typeface="Crusoe Text Bold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R698 812.33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04492" y="7947432"/>
            <a:ext cx="2748502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Total Transactions:</a:t>
            </a:r>
          </a:p>
          <a:p>
            <a:pPr algn="just">
              <a:lnSpc>
                <a:spcPts val="2520"/>
              </a:lnSpc>
            </a:pPr>
            <a:endParaRPr lang="en-US" sz="1800" b="1">
              <a:solidFill>
                <a:srgbClr val="000000"/>
              </a:solidFill>
              <a:latin typeface="Crusoe Text Bold"/>
              <a:ea typeface="Crusoe Text Bold"/>
              <a:cs typeface="Crusoe Text Bold"/>
              <a:sym typeface="Crusoe Text Bold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149 116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5531" y="7947432"/>
            <a:ext cx="2748502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Total quantitty sold:</a:t>
            </a:r>
          </a:p>
          <a:p>
            <a:pPr algn="just">
              <a:lnSpc>
                <a:spcPts val="2520"/>
              </a:lnSpc>
            </a:pPr>
            <a:endParaRPr lang="en-US" sz="1800" b="1">
              <a:solidFill>
                <a:srgbClr val="000000"/>
              </a:solidFill>
              <a:latin typeface="Crusoe Text Bold"/>
              <a:ea typeface="Crusoe Text Bold"/>
              <a:cs typeface="Crusoe Text Bold"/>
              <a:sym typeface="Crusoe Text Bold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214 470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04492" y="4891813"/>
            <a:ext cx="4085654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Duration of Dataset:</a:t>
            </a:r>
          </a:p>
          <a:p>
            <a:pPr algn="just">
              <a:lnSpc>
                <a:spcPts val="2520"/>
              </a:lnSpc>
            </a:pPr>
            <a:endParaRPr lang="en-US" sz="1800" b="1">
              <a:solidFill>
                <a:srgbClr val="000000"/>
              </a:solidFill>
              <a:latin typeface="Crusoe Text Bold"/>
              <a:ea typeface="Crusoe Text Bold"/>
              <a:cs typeface="Crusoe Text Bold"/>
              <a:sym typeface="Crusoe Text Bold"/>
            </a:endParaR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6 months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01/01/2023 - 30/06/2023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373018" cy="10287000"/>
            <a:chOff x="0" y="0"/>
            <a:chExt cx="304156" cy="909924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304156" cy="909924"/>
            </a:xfrm>
            <a:custGeom>
              <a:avLst/>
              <a:gdLst/>
              <a:ahLst/>
              <a:cxnLst/>
              <a:rect l="l" t="t" r="r" b="b"/>
              <a:pathLst>
                <a:path w="304156" h="909924">
                  <a:moveTo>
                    <a:pt x="257723" y="0"/>
                  </a:moveTo>
                  <a:lnTo>
                    <a:pt x="46433" y="0"/>
                  </a:lnTo>
                  <a:cubicBezTo>
                    <a:pt x="20789" y="0"/>
                    <a:pt x="0" y="20789"/>
                    <a:pt x="0" y="46433"/>
                  </a:cubicBezTo>
                  <a:lnTo>
                    <a:pt x="0" y="863490"/>
                  </a:lnTo>
                  <a:cubicBezTo>
                    <a:pt x="0" y="889135"/>
                    <a:pt x="20789" y="909924"/>
                    <a:pt x="46433" y="909924"/>
                  </a:cubicBezTo>
                  <a:lnTo>
                    <a:pt x="257723" y="909924"/>
                  </a:lnTo>
                  <a:cubicBezTo>
                    <a:pt x="283367" y="909924"/>
                    <a:pt x="304156" y="889135"/>
                    <a:pt x="304156" y="863490"/>
                  </a:cubicBezTo>
                  <a:lnTo>
                    <a:pt x="304156" y="46433"/>
                  </a:lnTo>
                  <a:cubicBezTo>
                    <a:pt x="304156" y="20789"/>
                    <a:pt x="283367" y="0"/>
                    <a:pt x="257723" y="0"/>
                  </a:cubicBezTo>
                  <a:close/>
                </a:path>
              </a:pathLst>
            </a:custGeom>
            <a:blipFill>
              <a:blip r:embed="rId3"/>
              <a:stretch>
                <a:fillRect l="-62186" r="-62186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442421" y="248841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173603" y="1922989"/>
            <a:ext cx="10708935" cy="6419444"/>
          </a:xfrm>
          <a:custGeom>
            <a:avLst/>
            <a:gdLst/>
            <a:ahLst/>
            <a:cxnLst/>
            <a:rect l="l" t="t" r="r" b="b"/>
            <a:pathLst>
              <a:path w="10708935" h="6419444">
                <a:moveTo>
                  <a:pt x="0" y="0"/>
                </a:moveTo>
                <a:lnTo>
                  <a:pt x="10708935" y="0"/>
                </a:lnTo>
                <a:lnTo>
                  <a:pt x="10708935" y="6419444"/>
                </a:lnTo>
                <a:lnTo>
                  <a:pt x="0" y="6419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88667" y="840508"/>
            <a:ext cx="14061485" cy="795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REVENUE TRENDS BY MONTHS &amp; LOCATION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24200" y="409087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44475" y="8985629"/>
            <a:ext cx="15177133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Revenue is noticeably lower in the first two months (January and February), followed by a steady increase from March through June, with June recording the highest performance. Across all six months, Hell’s Kitchen slightly outperforms Astoria, while Lower Manhattan consistently generates the lowest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69324" y="638770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60"/>
                </a:lnTo>
                <a:lnTo>
                  <a:pt x="0" y="77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0"/>
            <a:ext cx="2012148" cy="10287000"/>
            <a:chOff x="0" y="0"/>
            <a:chExt cx="384158" cy="17935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158" cy="1793531"/>
            </a:xfrm>
            <a:custGeom>
              <a:avLst/>
              <a:gdLst/>
              <a:ahLst/>
              <a:cxnLst/>
              <a:rect l="l" t="t" r="r" b="b"/>
              <a:pathLst>
                <a:path w="384158" h="1793531">
                  <a:moveTo>
                    <a:pt x="72638" y="0"/>
                  </a:moveTo>
                  <a:lnTo>
                    <a:pt x="311520" y="0"/>
                  </a:lnTo>
                  <a:cubicBezTo>
                    <a:pt x="351637" y="0"/>
                    <a:pt x="384158" y="32521"/>
                    <a:pt x="384158" y="72638"/>
                  </a:cubicBezTo>
                  <a:lnTo>
                    <a:pt x="384158" y="1720893"/>
                  </a:lnTo>
                  <a:cubicBezTo>
                    <a:pt x="384158" y="1761010"/>
                    <a:pt x="351637" y="1793531"/>
                    <a:pt x="311520" y="1793531"/>
                  </a:cubicBezTo>
                  <a:lnTo>
                    <a:pt x="72638" y="1793531"/>
                  </a:lnTo>
                  <a:cubicBezTo>
                    <a:pt x="32521" y="1793531"/>
                    <a:pt x="0" y="1761010"/>
                    <a:pt x="0" y="1720893"/>
                  </a:cubicBezTo>
                  <a:lnTo>
                    <a:pt x="0" y="72638"/>
                  </a:lnTo>
                  <a:cubicBezTo>
                    <a:pt x="0" y="32521"/>
                    <a:pt x="32521" y="0"/>
                    <a:pt x="72638" y="0"/>
                  </a:cubicBezTo>
                  <a:close/>
                </a:path>
              </a:pathLst>
            </a:custGeom>
            <a:blipFill>
              <a:blip r:embed="rId4"/>
              <a:stretch>
                <a:fillRect l="-105527" r="-10552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012149" y="2244725"/>
            <a:ext cx="9989416" cy="5988131"/>
          </a:xfrm>
          <a:custGeom>
            <a:avLst/>
            <a:gdLst/>
            <a:ahLst/>
            <a:cxnLst/>
            <a:rect l="l" t="t" r="r" b="b"/>
            <a:pathLst>
              <a:path w="9989416" h="5988131">
                <a:moveTo>
                  <a:pt x="0" y="0"/>
                </a:moveTo>
                <a:lnTo>
                  <a:pt x="9989416" y="0"/>
                </a:lnTo>
                <a:lnTo>
                  <a:pt x="9989416" y="5988130"/>
                </a:lnTo>
                <a:lnTo>
                  <a:pt x="0" y="5988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001565" y="3124919"/>
            <a:ext cx="6286435" cy="4275171"/>
          </a:xfrm>
          <a:custGeom>
            <a:avLst/>
            <a:gdLst/>
            <a:ahLst/>
            <a:cxnLst/>
            <a:rect l="l" t="t" r="r" b="b"/>
            <a:pathLst>
              <a:path w="6286435" h="4275171">
                <a:moveTo>
                  <a:pt x="0" y="0"/>
                </a:moveTo>
                <a:lnTo>
                  <a:pt x="6286435" y="0"/>
                </a:lnTo>
                <a:lnTo>
                  <a:pt x="6286435" y="4275170"/>
                </a:lnTo>
                <a:lnTo>
                  <a:pt x="0" y="4275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454" r="-299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782542" y="1055687"/>
            <a:ext cx="7558278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TIME BEHAVIOUR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1543" y="8347155"/>
            <a:ext cx="8653298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The morning period generates the highest revenue by a significant margin, contributing nearly half of total sales. Midday and late afternoon show moderate performance, while evening sales are substantially lower across all locations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33648" y="83026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5656" y="2197100"/>
            <a:ext cx="422431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Time of day perfomane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91601" y="2775669"/>
            <a:ext cx="504753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Weekday VS Weekend `perfomance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96583" y="7421783"/>
            <a:ext cx="5496399" cy="121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50"/>
              </a:lnSpc>
              <a:spcBef>
                <a:spcPct val="0"/>
              </a:spcBef>
            </a:pPr>
            <a:r>
              <a:rPr lang="en-US" sz="175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Weekday revenue (R107k) is more than double weekend revenue (R41k), indicating that the business is heavily dependent on weekday customer traffic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77938" y="399653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2235063" cy="10287000"/>
          </a:xfrm>
          <a:custGeom>
            <a:avLst/>
            <a:gdLst/>
            <a:ahLst/>
            <a:cxnLst/>
            <a:rect l="l" t="t" r="r" b="b"/>
            <a:pathLst>
              <a:path w="3047883" h="10287000">
                <a:moveTo>
                  <a:pt x="0" y="0"/>
                </a:moveTo>
                <a:lnTo>
                  <a:pt x="3047883" y="0"/>
                </a:lnTo>
                <a:lnTo>
                  <a:pt x="30478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318" r="-9969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72970" y="1487412"/>
            <a:ext cx="11884026" cy="7156679"/>
          </a:xfrm>
          <a:custGeom>
            <a:avLst/>
            <a:gdLst/>
            <a:ahLst/>
            <a:cxnLst/>
            <a:rect l="l" t="t" r="r" b="b"/>
            <a:pathLst>
              <a:path w="11884026" h="7156679">
                <a:moveTo>
                  <a:pt x="0" y="0"/>
                </a:moveTo>
                <a:lnTo>
                  <a:pt x="11884027" y="0"/>
                </a:lnTo>
                <a:lnTo>
                  <a:pt x="11884027" y="7156679"/>
                </a:lnTo>
                <a:lnTo>
                  <a:pt x="0" y="7156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dash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5899275" y="275828"/>
            <a:ext cx="1063628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MONTH PERIOD TREND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24922" y="675086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35757" y="8769824"/>
            <a:ext cx="10750247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Revenue increases progressively throughout the month, with the highest sales recorded at Mid-month, suggesting that customer spending is strongest during the month.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30583" y="399653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1"/>
            <a:ext cx="1910977" cy="10287001"/>
            <a:chOff x="0" y="0"/>
            <a:chExt cx="340462" cy="20144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0462" cy="2014481"/>
            </a:xfrm>
            <a:custGeom>
              <a:avLst/>
              <a:gdLst/>
              <a:ahLst/>
              <a:cxnLst/>
              <a:rect l="l" t="t" r="r" b="b"/>
              <a:pathLst>
                <a:path w="340462" h="2014481">
                  <a:moveTo>
                    <a:pt x="93180" y="0"/>
                  </a:moveTo>
                  <a:lnTo>
                    <a:pt x="247282" y="0"/>
                  </a:lnTo>
                  <a:cubicBezTo>
                    <a:pt x="298744" y="0"/>
                    <a:pt x="340462" y="41718"/>
                    <a:pt x="340462" y="93180"/>
                  </a:cubicBezTo>
                  <a:lnTo>
                    <a:pt x="340462" y="1921301"/>
                  </a:lnTo>
                  <a:cubicBezTo>
                    <a:pt x="340462" y="1972763"/>
                    <a:pt x="298744" y="2014481"/>
                    <a:pt x="247282" y="2014481"/>
                  </a:cubicBezTo>
                  <a:lnTo>
                    <a:pt x="93180" y="2014481"/>
                  </a:lnTo>
                  <a:cubicBezTo>
                    <a:pt x="41718" y="2014481"/>
                    <a:pt x="0" y="1972763"/>
                    <a:pt x="0" y="1921301"/>
                  </a:cubicBezTo>
                  <a:lnTo>
                    <a:pt x="0" y="93180"/>
                  </a:lnTo>
                  <a:cubicBezTo>
                    <a:pt x="0" y="41718"/>
                    <a:pt x="41718" y="0"/>
                    <a:pt x="93180" y="0"/>
                  </a:cubicBezTo>
                  <a:close/>
                </a:path>
              </a:pathLst>
            </a:custGeom>
            <a:blipFill>
              <a:blip r:embed="rId4"/>
              <a:stretch>
                <a:fillRect l="-394045" r="-394045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873966" y="2343980"/>
            <a:ext cx="11905936" cy="7189734"/>
          </a:xfrm>
          <a:custGeom>
            <a:avLst/>
            <a:gdLst/>
            <a:ahLst/>
            <a:cxnLst/>
            <a:rect l="l" t="t" r="r" b="b"/>
            <a:pathLst>
              <a:path w="11905936" h="7189734">
                <a:moveTo>
                  <a:pt x="0" y="0"/>
                </a:moveTo>
                <a:lnTo>
                  <a:pt x="11905936" y="0"/>
                </a:lnTo>
                <a:lnTo>
                  <a:pt x="11905936" y="7189734"/>
                </a:lnTo>
                <a:lnTo>
                  <a:pt x="0" y="71897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48409" y="1180721"/>
            <a:ext cx="13528283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PRODUCT CATEGORY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31170" y="67088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0" name="TextBox 10"/>
          <p:cNvSpPr txBox="1"/>
          <p:nvPr/>
        </p:nvSpPr>
        <p:spPr>
          <a:xfrm rot="5400000">
            <a:off x="12117269" y="5169101"/>
            <a:ext cx="7810541" cy="191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1"/>
              </a:lnSpc>
              <a:spcBef>
                <a:spcPct val="0"/>
              </a:spcBef>
            </a:pPr>
            <a:r>
              <a:rPr lang="en-US" sz="2208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Coffee is the top-performing category in both revenue and quantity, followed by tea, while bakery contributes moderately. All other categories generate significantly lower revenue, indicating a strong reliance on a few key product groups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02491" y="638770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60"/>
                </a:lnTo>
                <a:lnTo>
                  <a:pt x="0" y="77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0"/>
            <a:ext cx="2009505" cy="10287000"/>
            <a:chOff x="0" y="0"/>
            <a:chExt cx="503594" cy="19719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3594" cy="1971925"/>
            </a:xfrm>
            <a:custGeom>
              <a:avLst/>
              <a:gdLst/>
              <a:ahLst/>
              <a:cxnLst/>
              <a:rect l="l" t="t" r="r" b="b"/>
              <a:pathLst>
                <a:path w="503594" h="1971925">
                  <a:moveTo>
                    <a:pt x="63206" y="0"/>
                  </a:moveTo>
                  <a:lnTo>
                    <a:pt x="440388" y="0"/>
                  </a:lnTo>
                  <a:cubicBezTo>
                    <a:pt x="457152" y="0"/>
                    <a:pt x="473228" y="6659"/>
                    <a:pt x="485082" y="18513"/>
                  </a:cubicBezTo>
                  <a:cubicBezTo>
                    <a:pt x="496935" y="30366"/>
                    <a:pt x="503594" y="46443"/>
                    <a:pt x="503594" y="63206"/>
                  </a:cubicBezTo>
                  <a:lnTo>
                    <a:pt x="503594" y="1908719"/>
                  </a:lnTo>
                  <a:cubicBezTo>
                    <a:pt x="503594" y="1925482"/>
                    <a:pt x="496935" y="1941559"/>
                    <a:pt x="485082" y="1953412"/>
                  </a:cubicBezTo>
                  <a:cubicBezTo>
                    <a:pt x="473228" y="1965266"/>
                    <a:pt x="457152" y="1971925"/>
                    <a:pt x="440388" y="1971925"/>
                  </a:cubicBezTo>
                  <a:lnTo>
                    <a:pt x="63206" y="1971925"/>
                  </a:lnTo>
                  <a:cubicBezTo>
                    <a:pt x="46443" y="1971925"/>
                    <a:pt x="30366" y="1965266"/>
                    <a:pt x="18513" y="1953412"/>
                  </a:cubicBezTo>
                  <a:cubicBezTo>
                    <a:pt x="6659" y="1941559"/>
                    <a:pt x="0" y="1925482"/>
                    <a:pt x="0" y="1908719"/>
                  </a:cubicBezTo>
                  <a:lnTo>
                    <a:pt x="0" y="63206"/>
                  </a:lnTo>
                  <a:cubicBezTo>
                    <a:pt x="0" y="46443"/>
                    <a:pt x="6659" y="30366"/>
                    <a:pt x="18513" y="18513"/>
                  </a:cubicBezTo>
                  <a:cubicBezTo>
                    <a:pt x="30366" y="6659"/>
                    <a:pt x="46443" y="0"/>
                    <a:pt x="63206" y="0"/>
                  </a:cubicBezTo>
                  <a:close/>
                </a:path>
              </a:pathLst>
            </a:custGeom>
            <a:blipFill>
              <a:blip r:embed="rId4"/>
              <a:stretch>
                <a:fillRect l="-114373" t="-25776" r="-114373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4238977" y="2230556"/>
            <a:ext cx="11669924" cy="7027744"/>
          </a:xfrm>
          <a:custGeom>
            <a:avLst/>
            <a:gdLst/>
            <a:ahLst/>
            <a:cxnLst/>
            <a:rect l="l" t="t" r="r" b="b"/>
            <a:pathLst>
              <a:path w="11669924" h="7027744">
                <a:moveTo>
                  <a:pt x="0" y="0"/>
                </a:moveTo>
                <a:lnTo>
                  <a:pt x="11669925" y="0"/>
                </a:lnTo>
                <a:lnTo>
                  <a:pt x="11669925" y="7027744"/>
                </a:lnTo>
                <a:lnTo>
                  <a:pt x="0" y="7027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238977" y="9210675"/>
            <a:ext cx="12012305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Across all time periods, the majority of revenue is generated from low-priced items, with morning sales showing the highest contribution within this category, reinforcing the dominance of high-volume, low-cost purchases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45383" y="843139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58520" y="503471"/>
            <a:ext cx="14477919" cy="173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CUSTOMER SPENDING BEHAVIOUR</a:t>
            </a:r>
          </a:p>
          <a:p>
            <a:pPr marL="0" lvl="0" indent="0" algn="l">
              <a:lnSpc>
                <a:spcPts val="6672"/>
              </a:lnSpc>
              <a:spcBef>
                <a:spcPct val="0"/>
              </a:spcBef>
            </a:pPr>
            <a:r>
              <a:rPr lang="en-US" sz="4766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By Time of 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83380" y="487958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35258" cy="10287000"/>
            <a:chOff x="0" y="0"/>
            <a:chExt cx="360414" cy="19658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0414" cy="1965818"/>
            </a:xfrm>
            <a:custGeom>
              <a:avLst/>
              <a:gdLst/>
              <a:ahLst/>
              <a:cxnLst/>
              <a:rect l="l" t="t" r="r" b="b"/>
              <a:pathLst>
                <a:path w="360414" h="1965818">
                  <a:moveTo>
                    <a:pt x="88021" y="0"/>
                  </a:moveTo>
                  <a:lnTo>
                    <a:pt x="272392" y="0"/>
                  </a:lnTo>
                  <a:cubicBezTo>
                    <a:pt x="321005" y="0"/>
                    <a:pt x="360414" y="39409"/>
                    <a:pt x="360414" y="88021"/>
                  </a:cubicBezTo>
                  <a:lnTo>
                    <a:pt x="360414" y="1877796"/>
                  </a:lnTo>
                  <a:cubicBezTo>
                    <a:pt x="360414" y="1926409"/>
                    <a:pt x="321005" y="1965818"/>
                    <a:pt x="272392" y="1965818"/>
                  </a:cubicBezTo>
                  <a:lnTo>
                    <a:pt x="88021" y="1965818"/>
                  </a:lnTo>
                  <a:cubicBezTo>
                    <a:pt x="39409" y="1965818"/>
                    <a:pt x="0" y="1926409"/>
                    <a:pt x="0" y="1877796"/>
                  </a:cubicBezTo>
                  <a:lnTo>
                    <a:pt x="0" y="88021"/>
                  </a:lnTo>
                  <a:cubicBezTo>
                    <a:pt x="0" y="39409"/>
                    <a:pt x="39409" y="0"/>
                    <a:pt x="88021" y="0"/>
                  </a:cubicBezTo>
                  <a:close/>
                </a:path>
              </a:pathLst>
            </a:custGeom>
            <a:blipFill>
              <a:blip r:embed="rId4"/>
              <a:stretch>
                <a:fillRect l="-359331" r="-35933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4172577" y="2455778"/>
            <a:ext cx="11224782" cy="6370064"/>
          </a:xfrm>
          <a:custGeom>
            <a:avLst/>
            <a:gdLst/>
            <a:ahLst/>
            <a:cxnLst/>
            <a:rect l="l" t="t" r="r" b="b"/>
            <a:pathLst>
              <a:path w="11224782" h="6370064">
                <a:moveTo>
                  <a:pt x="0" y="0"/>
                </a:moveTo>
                <a:lnTo>
                  <a:pt x="11224782" y="0"/>
                </a:lnTo>
                <a:lnTo>
                  <a:pt x="11224782" y="6370064"/>
                </a:lnTo>
                <a:lnTo>
                  <a:pt x="0" y="63700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82789" y="1143992"/>
            <a:ext cx="1313686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LOCATION VS DAY OF WEEK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82789" y="679450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15684" y="9063967"/>
            <a:ext cx="13624943" cy="113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1"/>
              </a:lnSpc>
              <a:spcBef>
                <a:spcPct val="0"/>
              </a:spcBef>
            </a:pPr>
            <a:r>
              <a:rPr lang="en-US" sz="2208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Revenue remains relatively consistent across all days of the week, with a slight peak on Fridays and a minor decline on Saturdays, indicating stable daily demand with small end-of-week variations.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56440" y="487958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"/>
            <a:ext cx="2861141" cy="10287000"/>
            <a:chOff x="0" y="0"/>
            <a:chExt cx="676519" cy="19999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6519" cy="1999963"/>
            </a:xfrm>
            <a:custGeom>
              <a:avLst/>
              <a:gdLst/>
              <a:ahLst/>
              <a:cxnLst/>
              <a:rect l="l" t="t" r="r" b="b"/>
              <a:pathLst>
                <a:path w="676519" h="1999963">
                  <a:moveTo>
                    <a:pt x="46893" y="0"/>
                  </a:moveTo>
                  <a:lnTo>
                    <a:pt x="629626" y="0"/>
                  </a:lnTo>
                  <a:cubicBezTo>
                    <a:pt x="655524" y="0"/>
                    <a:pt x="676519" y="20995"/>
                    <a:pt x="676519" y="46893"/>
                  </a:cubicBezTo>
                  <a:lnTo>
                    <a:pt x="676519" y="1953070"/>
                  </a:lnTo>
                  <a:cubicBezTo>
                    <a:pt x="676519" y="1965507"/>
                    <a:pt x="671579" y="1977435"/>
                    <a:pt x="662784" y="1986229"/>
                  </a:cubicBezTo>
                  <a:cubicBezTo>
                    <a:pt x="653990" y="1995023"/>
                    <a:pt x="642063" y="1999963"/>
                    <a:pt x="629626" y="1999963"/>
                  </a:cubicBezTo>
                  <a:lnTo>
                    <a:pt x="46893" y="1999963"/>
                  </a:lnTo>
                  <a:cubicBezTo>
                    <a:pt x="34456" y="1999963"/>
                    <a:pt x="22529" y="1995023"/>
                    <a:pt x="13735" y="1986229"/>
                  </a:cubicBezTo>
                  <a:cubicBezTo>
                    <a:pt x="4941" y="1977435"/>
                    <a:pt x="0" y="1965507"/>
                    <a:pt x="0" y="1953070"/>
                  </a:cubicBezTo>
                  <a:lnTo>
                    <a:pt x="0" y="46893"/>
                  </a:lnTo>
                  <a:cubicBezTo>
                    <a:pt x="0" y="34456"/>
                    <a:pt x="4941" y="22529"/>
                    <a:pt x="13735" y="13735"/>
                  </a:cubicBezTo>
                  <a:cubicBezTo>
                    <a:pt x="22529" y="4941"/>
                    <a:pt x="34456" y="0"/>
                    <a:pt x="46893" y="0"/>
                  </a:cubicBezTo>
                  <a:close/>
                </a:path>
              </a:pathLst>
            </a:custGeom>
            <a:blipFill>
              <a:blip r:embed="rId4"/>
              <a:stretch>
                <a:fillRect l="-120966" t="-73605" r="-12096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3356440" y="1317221"/>
            <a:ext cx="13902860" cy="7492451"/>
          </a:xfrm>
          <a:custGeom>
            <a:avLst/>
            <a:gdLst/>
            <a:ahLst/>
            <a:cxnLst/>
            <a:rect l="l" t="t" r="r" b="b"/>
            <a:pathLst>
              <a:path w="13902860" h="7492451">
                <a:moveTo>
                  <a:pt x="0" y="0"/>
                </a:moveTo>
                <a:lnTo>
                  <a:pt x="13902860" y="0"/>
                </a:lnTo>
                <a:lnTo>
                  <a:pt x="13902860" y="7492452"/>
                </a:lnTo>
                <a:lnTo>
                  <a:pt x="0" y="7492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479" b="-647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789207" y="686792"/>
            <a:ext cx="787516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SEASONAL TRENDS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55849" y="8914448"/>
            <a:ext cx="1300345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All product categories show consistent growth over time, with the most significant increases occurring from March onwards. Coffee and tea remain the dominant contributors throughout all months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55849" y="679450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56440" y="487958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-1"/>
            <a:ext cx="2861140" cy="10287001"/>
            <a:chOff x="0" y="0"/>
            <a:chExt cx="573547" cy="21362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3547" cy="2136268"/>
            </a:xfrm>
            <a:custGeom>
              <a:avLst/>
              <a:gdLst/>
              <a:ahLst/>
              <a:cxnLst/>
              <a:rect l="l" t="t" r="r" b="b"/>
              <a:pathLst>
                <a:path w="573547" h="2136268">
                  <a:moveTo>
                    <a:pt x="55497" y="0"/>
                  </a:moveTo>
                  <a:lnTo>
                    <a:pt x="518050" y="0"/>
                  </a:lnTo>
                  <a:cubicBezTo>
                    <a:pt x="548700" y="0"/>
                    <a:pt x="573547" y="24847"/>
                    <a:pt x="573547" y="55497"/>
                  </a:cubicBezTo>
                  <a:lnTo>
                    <a:pt x="573547" y="2080771"/>
                  </a:lnTo>
                  <a:cubicBezTo>
                    <a:pt x="573547" y="2111421"/>
                    <a:pt x="548700" y="2136268"/>
                    <a:pt x="518050" y="2136268"/>
                  </a:cubicBezTo>
                  <a:lnTo>
                    <a:pt x="55497" y="2136268"/>
                  </a:lnTo>
                  <a:cubicBezTo>
                    <a:pt x="24847" y="2136268"/>
                    <a:pt x="0" y="2111421"/>
                    <a:pt x="0" y="2080771"/>
                  </a:cubicBezTo>
                  <a:lnTo>
                    <a:pt x="0" y="55497"/>
                  </a:lnTo>
                  <a:cubicBezTo>
                    <a:pt x="0" y="24847"/>
                    <a:pt x="24847" y="0"/>
                    <a:pt x="55497" y="0"/>
                  </a:cubicBezTo>
                  <a:close/>
                </a:path>
              </a:pathLst>
            </a:custGeom>
            <a:blipFill>
              <a:blip r:embed="rId4"/>
              <a:stretch>
                <a:fillRect l="-229000" r="-22900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859508" y="6470478"/>
            <a:ext cx="589704" cy="600234"/>
            <a:chOff x="0" y="0"/>
            <a:chExt cx="711200" cy="723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1200" cy="716280"/>
            </a:xfrm>
            <a:custGeom>
              <a:avLst/>
              <a:gdLst/>
              <a:ahLst/>
              <a:cxnLst/>
              <a:rect l="l" t="t" r="r" b="b"/>
              <a:pathLst>
                <a:path w="711200" h="716280">
                  <a:moveTo>
                    <a:pt x="355600" y="0"/>
                  </a:moveTo>
                  <a:lnTo>
                    <a:pt x="393700" y="43180"/>
                  </a:lnTo>
                  <a:lnTo>
                    <a:pt x="441960" y="10160"/>
                  </a:lnTo>
                  <a:lnTo>
                    <a:pt x="468630" y="60960"/>
                  </a:lnTo>
                  <a:lnTo>
                    <a:pt x="521970" y="40640"/>
                  </a:lnTo>
                  <a:lnTo>
                    <a:pt x="535940" y="96520"/>
                  </a:lnTo>
                  <a:lnTo>
                    <a:pt x="593090" y="90170"/>
                  </a:lnTo>
                  <a:lnTo>
                    <a:pt x="593090" y="147320"/>
                  </a:lnTo>
                  <a:lnTo>
                    <a:pt x="650240" y="154940"/>
                  </a:lnTo>
                  <a:lnTo>
                    <a:pt x="637540" y="210820"/>
                  </a:lnTo>
                  <a:lnTo>
                    <a:pt x="690880" y="231140"/>
                  </a:lnTo>
                  <a:lnTo>
                    <a:pt x="664210" y="281940"/>
                  </a:lnTo>
                  <a:lnTo>
                    <a:pt x="711200" y="314960"/>
                  </a:lnTo>
                  <a:lnTo>
                    <a:pt x="673100" y="358140"/>
                  </a:lnTo>
                  <a:lnTo>
                    <a:pt x="711200" y="401320"/>
                  </a:lnTo>
                  <a:lnTo>
                    <a:pt x="664210" y="434340"/>
                  </a:lnTo>
                  <a:lnTo>
                    <a:pt x="690880" y="485140"/>
                  </a:lnTo>
                  <a:lnTo>
                    <a:pt x="637540" y="505460"/>
                  </a:lnTo>
                  <a:lnTo>
                    <a:pt x="650240" y="561340"/>
                  </a:lnTo>
                  <a:lnTo>
                    <a:pt x="593090" y="568960"/>
                  </a:lnTo>
                  <a:lnTo>
                    <a:pt x="593090" y="626110"/>
                  </a:lnTo>
                  <a:lnTo>
                    <a:pt x="535940" y="619760"/>
                  </a:lnTo>
                  <a:lnTo>
                    <a:pt x="521970" y="675640"/>
                  </a:lnTo>
                  <a:lnTo>
                    <a:pt x="468630" y="655320"/>
                  </a:lnTo>
                  <a:lnTo>
                    <a:pt x="441960" y="706120"/>
                  </a:lnTo>
                  <a:lnTo>
                    <a:pt x="393700" y="673100"/>
                  </a:lnTo>
                  <a:lnTo>
                    <a:pt x="355600" y="716280"/>
                  </a:lnTo>
                  <a:lnTo>
                    <a:pt x="317500" y="673100"/>
                  </a:lnTo>
                  <a:lnTo>
                    <a:pt x="269240" y="706120"/>
                  </a:lnTo>
                  <a:lnTo>
                    <a:pt x="242570" y="655320"/>
                  </a:lnTo>
                  <a:lnTo>
                    <a:pt x="189230" y="675640"/>
                  </a:lnTo>
                  <a:lnTo>
                    <a:pt x="175260" y="619760"/>
                  </a:lnTo>
                  <a:lnTo>
                    <a:pt x="118110" y="626110"/>
                  </a:lnTo>
                  <a:lnTo>
                    <a:pt x="118110" y="568960"/>
                  </a:lnTo>
                  <a:lnTo>
                    <a:pt x="60960" y="561340"/>
                  </a:lnTo>
                  <a:lnTo>
                    <a:pt x="73660" y="505460"/>
                  </a:lnTo>
                  <a:lnTo>
                    <a:pt x="20320" y="485140"/>
                  </a:lnTo>
                  <a:lnTo>
                    <a:pt x="46990" y="434340"/>
                  </a:lnTo>
                  <a:lnTo>
                    <a:pt x="0" y="401320"/>
                  </a:lnTo>
                  <a:lnTo>
                    <a:pt x="38100" y="358140"/>
                  </a:lnTo>
                  <a:lnTo>
                    <a:pt x="0" y="314960"/>
                  </a:lnTo>
                  <a:lnTo>
                    <a:pt x="46990" y="281940"/>
                  </a:lnTo>
                  <a:lnTo>
                    <a:pt x="20320" y="231140"/>
                  </a:lnTo>
                  <a:lnTo>
                    <a:pt x="73660" y="210820"/>
                  </a:lnTo>
                  <a:lnTo>
                    <a:pt x="60960" y="154940"/>
                  </a:lnTo>
                  <a:lnTo>
                    <a:pt x="118110" y="147320"/>
                  </a:lnTo>
                  <a:lnTo>
                    <a:pt x="118110" y="90170"/>
                  </a:lnTo>
                  <a:lnTo>
                    <a:pt x="175260" y="96520"/>
                  </a:lnTo>
                  <a:lnTo>
                    <a:pt x="189230" y="40640"/>
                  </a:lnTo>
                  <a:lnTo>
                    <a:pt x="242570" y="60960"/>
                  </a:lnTo>
                  <a:lnTo>
                    <a:pt x="269240" y="10160"/>
                  </a:lnTo>
                  <a:lnTo>
                    <a:pt x="317500" y="43180"/>
                  </a:lnTo>
                  <a:close/>
                </a:path>
              </a:pathLst>
            </a:custGeom>
            <a:solidFill>
              <a:srgbClr val="FFBD59">
                <a:alpha val="42745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38100" y="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56440" y="1894681"/>
            <a:ext cx="787516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KEY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49212" y="6432378"/>
            <a:ext cx="9056209" cy="358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07"/>
              </a:lnSpc>
              <a:spcBef>
                <a:spcPct val="0"/>
              </a:spcBef>
            </a:pPr>
            <a:r>
              <a:rPr lang="en-US" sz="2290" dirty="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Given the strong reliance on morning sales, staffing and operations should be optimized during early hours. The dominance of coffee and tea suggests a need for targeted promotions and product expansion within these categories. Since customers are highly price-sensitive, bundle deals and volume-based pricing strategies could help increase average spend. Additionally, weekend and evening promotions should be introduced to improve performance during slower periods.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55849" y="679450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42722" y="4901790"/>
            <a:ext cx="8702599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RECOMMENDATIONS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60581" y="1193641"/>
            <a:ext cx="8133173" cy="300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56"/>
              </a:lnSpc>
              <a:spcBef>
                <a:spcPct val="0"/>
              </a:spcBef>
            </a:pPr>
            <a:r>
              <a:rPr lang="en-US" sz="2468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Overall, sales performance is driven by strong morning demand, high reliance on weekday traffic, and a concentration of revenue within a few key product categories, particularly coffee and tea. Growth trends indicate increasing demand over time, with customers consistently favouring low-priced items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770877" y="1028700"/>
            <a:ext cx="589704" cy="600234"/>
            <a:chOff x="0" y="0"/>
            <a:chExt cx="711200" cy="7239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1200" cy="716280"/>
            </a:xfrm>
            <a:custGeom>
              <a:avLst/>
              <a:gdLst/>
              <a:ahLst/>
              <a:cxnLst/>
              <a:rect l="l" t="t" r="r" b="b"/>
              <a:pathLst>
                <a:path w="711200" h="716280">
                  <a:moveTo>
                    <a:pt x="355600" y="0"/>
                  </a:moveTo>
                  <a:lnTo>
                    <a:pt x="393700" y="43180"/>
                  </a:lnTo>
                  <a:lnTo>
                    <a:pt x="441960" y="10160"/>
                  </a:lnTo>
                  <a:lnTo>
                    <a:pt x="468630" y="60960"/>
                  </a:lnTo>
                  <a:lnTo>
                    <a:pt x="521970" y="40640"/>
                  </a:lnTo>
                  <a:lnTo>
                    <a:pt x="535940" y="96520"/>
                  </a:lnTo>
                  <a:lnTo>
                    <a:pt x="593090" y="90170"/>
                  </a:lnTo>
                  <a:lnTo>
                    <a:pt x="593090" y="147320"/>
                  </a:lnTo>
                  <a:lnTo>
                    <a:pt x="650240" y="154940"/>
                  </a:lnTo>
                  <a:lnTo>
                    <a:pt x="637540" y="210820"/>
                  </a:lnTo>
                  <a:lnTo>
                    <a:pt x="690880" y="231140"/>
                  </a:lnTo>
                  <a:lnTo>
                    <a:pt x="664210" y="281940"/>
                  </a:lnTo>
                  <a:lnTo>
                    <a:pt x="711200" y="314960"/>
                  </a:lnTo>
                  <a:lnTo>
                    <a:pt x="673100" y="358140"/>
                  </a:lnTo>
                  <a:lnTo>
                    <a:pt x="711200" y="401320"/>
                  </a:lnTo>
                  <a:lnTo>
                    <a:pt x="664210" y="434340"/>
                  </a:lnTo>
                  <a:lnTo>
                    <a:pt x="690880" y="485140"/>
                  </a:lnTo>
                  <a:lnTo>
                    <a:pt x="637540" y="505460"/>
                  </a:lnTo>
                  <a:lnTo>
                    <a:pt x="650240" y="561340"/>
                  </a:lnTo>
                  <a:lnTo>
                    <a:pt x="593090" y="568960"/>
                  </a:lnTo>
                  <a:lnTo>
                    <a:pt x="593090" y="626110"/>
                  </a:lnTo>
                  <a:lnTo>
                    <a:pt x="535940" y="619760"/>
                  </a:lnTo>
                  <a:lnTo>
                    <a:pt x="521970" y="675640"/>
                  </a:lnTo>
                  <a:lnTo>
                    <a:pt x="468630" y="655320"/>
                  </a:lnTo>
                  <a:lnTo>
                    <a:pt x="441960" y="706120"/>
                  </a:lnTo>
                  <a:lnTo>
                    <a:pt x="393700" y="673100"/>
                  </a:lnTo>
                  <a:lnTo>
                    <a:pt x="355600" y="716280"/>
                  </a:lnTo>
                  <a:lnTo>
                    <a:pt x="317500" y="673100"/>
                  </a:lnTo>
                  <a:lnTo>
                    <a:pt x="269240" y="706120"/>
                  </a:lnTo>
                  <a:lnTo>
                    <a:pt x="242570" y="655320"/>
                  </a:lnTo>
                  <a:lnTo>
                    <a:pt x="189230" y="675640"/>
                  </a:lnTo>
                  <a:lnTo>
                    <a:pt x="175260" y="619760"/>
                  </a:lnTo>
                  <a:lnTo>
                    <a:pt x="118110" y="626110"/>
                  </a:lnTo>
                  <a:lnTo>
                    <a:pt x="118110" y="568960"/>
                  </a:lnTo>
                  <a:lnTo>
                    <a:pt x="60960" y="561340"/>
                  </a:lnTo>
                  <a:lnTo>
                    <a:pt x="73660" y="505460"/>
                  </a:lnTo>
                  <a:lnTo>
                    <a:pt x="20320" y="485140"/>
                  </a:lnTo>
                  <a:lnTo>
                    <a:pt x="46990" y="434340"/>
                  </a:lnTo>
                  <a:lnTo>
                    <a:pt x="0" y="401320"/>
                  </a:lnTo>
                  <a:lnTo>
                    <a:pt x="38100" y="358140"/>
                  </a:lnTo>
                  <a:lnTo>
                    <a:pt x="0" y="314960"/>
                  </a:lnTo>
                  <a:lnTo>
                    <a:pt x="46990" y="281940"/>
                  </a:lnTo>
                  <a:lnTo>
                    <a:pt x="20320" y="231140"/>
                  </a:lnTo>
                  <a:lnTo>
                    <a:pt x="73660" y="210820"/>
                  </a:lnTo>
                  <a:lnTo>
                    <a:pt x="60960" y="154940"/>
                  </a:lnTo>
                  <a:lnTo>
                    <a:pt x="118110" y="147320"/>
                  </a:lnTo>
                  <a:lnTo>
                    <a:pt x="118110" y="90170"/>
                  </a:lnTo>
                  <a:lnTo>
                    <a:pt x="175260" y="96520"/>
                  </a:lnTo>
                  <a:lnTo>
                    <a:pt x="189230" y="40640"/>
                  </a:lnTo>
                  <a:lnTo>
                    <a:pt x="242570" y="60960"/>
                  </a:lnTo>
                  <a:lnTo>
                    <a:pt x="269240" y="10160"/>
                  </a:lnTo>
                  <a:lnTo>
                    <a:pt x="317500" y="43180"/>
                  </a:lnTo>
                  <a:close/>
                </a:path>
              </a:pathLst>
            </a:custGeom>
            <a:solidFill>
              <a:srgbClr val="FFBD59">
                <a:alpha val="48627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38100" y="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AC3F9-1DF3-051E-AD1F-3646AB968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FB9016-E41D-520D-09A6-ABB3A28C2038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 t="-8222" b="-8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1948B36-1075-E06E-7FE4-7A751AF8A0FA}"/>
              </a:ext>
            </a:extLst>
          </p:cNvPr>
          <p:cNvSpPr/>
          <p:nvPr/>
        </p:nvSpPr>
        <p:spPr>
          <a:xfrm>
            <a:off x="3356440" y="487958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5BD033CE-A4CC-D460-D942-BDDDAD472EE6}"/>
              </a:ext>
            </a:extLst>
          </p:cNvPr>
          <p:cNvGrpSpPr/>
          <p:nvPr/>
        </p:nvGrpSpPr>
        <p:grpSpPr>
          <a:xfrm>
            <a:off x="1929063" y="3670826"/>
            <a:ext cx="890337" cy="895941"/>
            <a:chOff x="0" y="0"/>
            <a:chExt cx="711200" cy="7239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D13AE39-2472-49BB-A0FE-1AB8D8B604AD}"/>
                </a:ext>
              </a:extLst>
            </p:cNvPr>
            <p:cNvSpPr/>
            <p:nvPr/>
          </p:nvSpPr>
          <p:spPr>
            <a:xfrm>
              <a:off x="0" y="0"/>
              <a:ext cx="711200" cy="716280"/>
            </a:xfrm>
            <a:custGeom>
              <a:avLst/>
              <a:gdLst/>
              <a:ahLst/>
              <a:cxnLst/>
              <a:rect l="l" t="t" r="r" b="b"/>
              <a:pathLst>
                <a:path w="711200" h="716280">
                  <a:moveTo>
                    <a:pt x="355600" y="0"/>
                  </a:moveTo>
                  <a:lnTo>
                    <a:pt x="393700" y="43180"/>
                  </a:lnTo>
                  <a:lnTo>
                    <a:pt x="441960" y="10160"/>
                  </a:lnTo>
                  <a:lnTo>
                    <a:pt x="468630" y="60960"/>
                  </a:lnTo>
                  <a:lnTo>
                    <a:pt x="521970" y="40640"/>
                  </a:lnTo>
                  <a:lnTo>
                    <a:pt x="535940" y="96520"/>
                  </a:lnTo>
                  <a:lnTo>
                    <a:pt x="593090" y="90170"/>
                  </a:lnTo>
                  <a:lnTo>
                    <a:pt x="593090" y="147320"/>
                  </a:lnTo>
                  <a:lnTo>
                    <a:pt x="650240" y="154940"/>
                  </a:lnTo>
                  <a:lnTo>
                    <a:pt x="637540" y="210820"/>
                  </a:lnTo>
                  <a:lnTo>
                    <a:pt x="690880" y="231140"/>
                  </a:lnTo>
                  <a:lnTo>
                    <a:pt x="664210" y="281940"/>
                  </a:lnTo>
                  <a:lnTo>
                    <a:pt x="711200" y="314960"/>
                  </a:lnTo>
                  <a:lnTo>
                    <a:pt x="673100" y="358140"/>
                  </a:lnTo>
                  <a:lnTo>
                    <a:pt x="711200" y="401320"/>
                  </a:lnTo>
                  <a:lnTo>
                    <a:pt x="664210" y="434340"/>
                  </a:lnTo>
                  <a:lnTo>
                    <a:pt x="690880" y="485140"/>
                  </a:lnTo>
                  <a:lnTo>
                    <a:pt x="637540" y="505460"/>
                  </a:lnTo>
                  <a:lnTo>
                    <a:pt x="650240" y="561340"/>
                  </a:lnTo>
                  <a:lnTo>
                    <a:pt x="593090" y="568960"/>
                  </a:lnTo>
                  <a:lnTo>
                    <a:pt x="593090" y="626110"/>
                  </a:lnTo>
                  <a:lnTo>
                    <a:pt x="535940" y="619760"/>
                  </a:lnTo>
                  <a:lnTo>
                    <a:pt x="521970" y="675640"/>
                  </a:lnTo>
                  <a:lnTo>
                    <a:pt x="468630" y="655320"/>
                  </a:lnTo>
                  <a:lnTo>
                    <a:pt x="441960" y="706120"/>
                  </a:lnTo>
                  <a:lnTo>
                    <a:pt x="393700" y="673100"/>
                  </a:lnTo>
                  <a:lnTo>
                    <a:pt x="355600" y="716280"/>
                  </a:lnTo>
                  <a:lnTo>
                    <a:pt x="317500" y="673100"/>
                  </a:lnTo>
                  <a:lnTo>
                    <a:pt x="269240" y="706120"/>
                  </a:lnTo>
                  <a:lnTo>
                    <a:pt x="242570" y="655320"/>
                  </a:lnTo>
                  <a:lnTo>
                    <a:pt x="189230" y="675640"/>
                  </a:lnTo>
                  <a:lnTo>
                    <a:pt x="175260" y="619760"/>
                  </a:lnTo>
                  <a:lnTo>
                    <a:pt x="118110" y="626110"/>
                  </a:lnTo>
                  <a:lnTo>
                    <a:pt x="118110" y="568960"/>
                  </a:lnTo>
                  <a:lnTo>
                    <a:pt x="60960" y="561340"/>
                  </a:lnTo>
                  <a:lnTo>
                    <a:pt x="73660" y="505460"/>
                  </a:lnTo>
                  <a:lnTo>
                    <a:pt x="20320" y="485140"/>
                  </a:lnTo>
                  <a:lnTo>
                    <a:pt x="46990" y="434340"/>
                  </a:lnTo>
                  <a:lnTo>
                    <a:pt x="0" y="401320"/>
                  </a:lnTo>
                  <a:lnTo>
                    <a:pt x="38100" y="358140"/>
                  </a:lnTo>
                  <a:lnTo>
                    <a:pt x="0" y="314960"/>
                  </a:lnTo>
                  <a:lnTo>
                    <a:pt x="46990" y="281940"/>
                  </a:lnTo>
                  <a:lnTo>
                    <a:pt x="20320" y="231140"/>
                  </a:lnTo>
                  <a:lnTo>
                    <a:pt x="73660" y="210820"/>
                  </a:lnTo>
                  <a:lnTo>
                    <a:pt x="60960" y="154940"/>
                  </a:lnTo>
                  <a:lnTo>
                    <a:pt x="118110" y="147320"/>
                  </a:lnTo>
                  <a:lnTo>
                    <a:pt x="118110" y="90170"/>
                  </a:lnTo>
                  <a:lnTo>
                    <a:pt x="175260" y="96520"/>
                  </a:lnTo>
                  <a:lnTo>
                    <a:pt x="189230" y="40640"/>
                  </a:lnTo>
                  <a:lnTo>
                    <a:pt x="242570" y="60960"/>
                  </a:lnTo>
                  <a:lnTo>
                    <a:pt x="269240" y="10160"/>
                  </a:lnTo>
                  <a:lnTo>
                    <a:pt x="317500" y="43180"/>
                  </a:lnTo>
                  <a:close/>
                </a:path>
              </a:pathLst>
            </a:custGeom>
            <a:solidFill>
              <a:srgbClr val="FFBD59">
                <a:alpha val="42745"/>
              </a:srgbClr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4EC2365-E952-8F8A-1016-6D70F8068CEE}"/>
                </a:ext>
              </a:extLst>
            </p:cNvPr>
            <p:cNvSpPr txBox="1"/>
            <p:nvPr/>
          </p:nvSpPr>
          <p:spPr>
            <a:xfrm>
              <a:off x="38100" y="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1651FFB-8257-AEC0-88BA-34EC495F244C}"/>
              </a:ext>
            </a:extLst>
          </p:cNvPr>
          <p:cNvSpPr txBox="1"/>
          <p:nvPr/>
        </p:nvSpPr>
        <p:spPr>
          <a:xfrm>
            <a:off x="2819400" y="1863849"/>
            <a:ext cx="7875162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CONCLUSION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F4D6204-1398-617A-1E94-2E7F6199B2E4}"/>
              </a:ext>
            </a:extLst>
          </p:cNvPr>
          <p:cNvSpPr txBox="1"/>
          <p:nvPr/>
        </p:nvSpPr>
        <p:spPr>
          <a:xfrm>
            <a:off x="2819400" y="3890494"/>
            <a:ext cx="74676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ZA" dirty="0">
                <a:latin typeface="Avenir Next Condensed" panose="020B0506020202020204" pitchFamily="34" charset="0"/>
                <a:cs typeface="Apple Chancery" panose="03020702040506060504" pitchFamily="66" charset="-79"/>
              </a:rPr>
              <a:t>This project shows how raw data can be transformed into useful insights. It demonstrates my ability to clean data, analyse trends, and present findings in a clear and structured way.</a:t>
            </a:r>
          </a:p>
          <a:p>
            <a:r>
              <a:rPr lang="en-ZA" dirty="0">
                <a:latin typeface="Avenir Next Condensed" panose="020B0506020202020204" pitchFamily="34" charset="0"/>
                <a:cs typeface="Apple Chancery" panose="03020702040506060504" pitchFamily="66" charset="-79"/>
              </a:rPr>
              <a:t>It also highlights my growing skills in SQL, data analysis, and problem-solving, and my ability to connect data insights to real business decisions.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0B11D9C-29FC-71E8-6DBA-BEC23F84DCEC}"/>
              </a:ext>
            </a:extLst>
          </p:cNvPr>
          <p:cNvSpPr txBox="1"/>
          <p:nvPr/>
        </p:nvSpPr>
        <p:spPr>
          <a:xfrm>
            <a:off x="3962400" y="70351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5C7A04-E7EB-54F2-877C-9ABC2663C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9443" y="-19770"/>
            <a:ext cx="5826253" cy="103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90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9364" b="-9285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51101" y="3578547"/>
            <a:ext cx="9185798" cy="387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8"/>
              </a:lnSpc>
            </a:pPr>
            <a:r>
              <a:rPr lang="en-US" sz="14958" b="1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THANK</a:t>
            </a:r>
          </a:p>
          <a:p>
            <a:pPr marL="0" lvl="0" indent="0" algn="ctr">
              <a:lnSpc>
                <a:spcPts val="14958"/>
              </a:lnSpc>
            </a:pPr>
            <a:r>
              <a:rPr lang="en-US" sz="14958" b="1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638770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60"/>
                </a:lnTo>
                <a:lnTo>
                  <a:pt x="0" y="77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247299" y="5896121"/>
            <a:ext cx="466798" cy="466798"/>
          </a:xfrm>
          <a:custGeom>
            <a:avLst/>
            <a:gdLst/>
            <a:ahLst/>
            <a:cxnLst/>
            <a:rect l="l" t="t" r="r" b="b"/>
            <a:pathLst>
              <a:path w="466798" h="466798">
                <a:moveTo>
                  <a:pt x="0" y="0"/>
                </a:moveTo>
                <a:lnTo>
                  <a:pt x="466798" y="0"/>
                </a:lnTo>
                <a:lnTo>
                  <a:pt x="466798" y="466799"/>
                </a:lnTo>
                <a:lnTo>
                  <a:pt x="0" y="466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155691" y="3011191"/>
            <a:ext cx="4264618" cy="4264618"/>
          </a:xfrm>
          <a:custGeom>
            <a:avLst/>
            <a:gdLst/>
            <a:ahLst/>
            <a:cxnLst/>
            <a:rect l="l" t="t" r="r" b="b"/>
            <a:pathLst>
              <a:path w="4264618" h="4264618">
                <a:moveTo>
                  <a:pt x="0" y="0"/>
                </a:moveTo>
                <a:lnTo>
                  <a:pt x="4264618" y="0"/>
                </a:lnTo>
                <a:lnTo>
                  <a:pt x="4264618" y="4264618"/>
                </a:lnTo>
                <a:lnTo>
                  <a:pt x="0" y="4264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132309" y="3011191"/>
            <a:ext cx="4264618" cy="4264618"/>
          </a:xfrm>
          <a:custGeom>
            <a:avLst/>
            <a:gdLst/>
            <a:ahLst/>
            <a:cxnLst/>
            <a:rect l="l" t="t" r="r" b="b"/>
            <a:pathLst>
              <a:path w="4264618" h="4264618">
                <a:moveTo>
                  <a:pt x="0" y="0"/>
                </a:moveTo>
                <a:lnTo>
                  <a:pt x="4264618" y="0"/>
                </a:lnTo>
                <a:lnTo>
                  <a:pt x="4264618" y="4264618"/>
                </a:lnTo>
                <a:lnTo>
                  <a:pt x="0" y="4264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575881" y="5896121"/>
            <a:ext cx="466798" cy="466798"/>
          </a:xfrm>
          <a:custGeom>
            <a:avLst/>
            <a:gdLst/>
            <a:ahLst/>
            <a:cxnLst/>
            <a:rect l="l" t="t" r="r" b="b"/>
            <a:pathLst>
              <a:path w="466798" h="466798">
                <a:moveTo>
                  <a:pt x="0" y="0"/>
                </a:moveTo>
                <a:lnTo>
                  <a:pt x="466798" y="0"/>
                </a:lnTo>
                <a:lnTo>
                  <a:pt x="466798" y="466799"/>
                </a:lnTo>
                <a:lnTo>
                  <a:pt x="0" y="466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76748" y="83026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591</Words>
  <Application>Microsoft Macintosh PowerPoint</Application>
  <PresentationFormat>Custom</PresentationFormat>
  <Paragraphs>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Aptos</vt:lpstr>
      <vt:lpstr>Crusoe Text Bold</vt:lpstr>
      <vt:lpstr>Crusoe Text</vt:lpstr>
      <vt:lpstr>Avenir Next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Brown and White Shadow Modern Bold Sparkle Geometric Coffee Shop Presentation</dc:title>
  <cp:lastModifiedBy>Vhonani Mphoshomale</cp:lastModifiedBy>
  <cp:revision>4</cp:revision>
  <dcterms:created xsi:type="dcterms:W3CDTF">2006-08-16T00:00:00Z</dcterms:created>
  <dcterms:modified xsi:type="dcterms:W3CDTF">2026-03-30T21:38:20Z</dcterms:modified>
  <dc:identifier>DAHFHg0aDrE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868890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S11.0.1</vt:lpwstr>
  </property>
</Properties>
</file>