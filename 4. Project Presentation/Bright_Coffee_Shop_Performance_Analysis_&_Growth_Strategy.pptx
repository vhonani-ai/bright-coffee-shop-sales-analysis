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5977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1028700"/>
            <a:ext cx="4972050" cy="2640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BRIGHT </a:t>
            </a:r>
            <a:r>
              <a:rPr lang="en-US" sz="43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COFFEE</a:t>
            </a:r>
            <a:r>
              <a:rPr lang="en-US" sz="43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43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SHOP </a:t>
            </a:r>
            <a:r>
              <a:rPr lang="en-US" sz="43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ANALYSIS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485775" y="4097610"/>
            <a:ext cx="49720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Data-Driven Insights for Strategic Growth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85775" y="4754835"/>
            <a:ext cx="49720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BY: VHONANI MPHOSHOMALE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85775" y="4997723"/>
            <a:ext cx="49720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Analytics Specialist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85775" y="5269185"/>
            <a:ext cx="4972050" cy="200025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Transforming sales data into actionable intelligence.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886450" y="57150"/>
            <a:ext cx="3314700" cy="559779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Shape 6"/>
          <p:cNvSpPr/>
          <p:nvPr/>
        </p:nvSpPr>
        <p:spPr>
          <a:xfrm>
            <a:off x="5600700" y="342900"/>
            <a:ext cx="1653778" cy="38040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5600700" y="342900"/>
            <a:ext cx="1653778" cy="380405"/>
          </a:xfrm>
          <a:prstGeom prst="rect">
            <a:avLst/>
          </a:prstGeom>
          <a:noFill/>
          <a:ln/>
        </p:spPr>
        <p:txBody>
          <a:bodyPr wrap="square" lIns="255143" tIns="102108" rIns="255143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2023 REPORT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28675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BUSINESS OVERVIEW &amp; KPIS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545478"/>
            <a:ext cx="2647931" cy="162877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545478"/>
            <a:ext cx="2647931" cy="5715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688353"/>
            <a:ext cx="236218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R698,812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571500" y="2247351"/>
            <a:ext cx="23621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8006" y="1545478"/>
            <a:ext cx="2647959" cy="162877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9" name="Shape 6"/>
          <p:cNvSpPr/>
          <p:nvPr/>
        </p:nvSpPr>
        <p:spPr>
          <a:xfrm>
            <a:off x="3248006" y="1545478"/>
            <a:ext cx="2647959" cy="5715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7"/>
          <p:cNvSpPr/>
          <p:nvPr/>
        </p:nvSpPr>
        <p:spPr>
          <a:xfrm>
            <a:off x="3390881" y="1688353"/>
            <a:ext cx="236220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149,116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3390881" y="2247351"/>
            <a:ext cx="2362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67416" y="1545478"/>
            <a:ext cx="2647931" cy="162877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3" name="Shape 10"/>
          <p:cNvSpPr/>
          <p:nvPr/>
        </p:nvSpPr>
        <p:spPr>
          <a:xfrm>
            <a:off x="6067416" y="1545478"/>
            <a:ext cx="2647931" cy="5715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210291" y="1688353"/>
            <a:ext cx="236218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214,470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6210291" y="2247351"/>
            <a:ext cx="23621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QUANTITY SOLD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28625" y="3502865"/>
            <a:ext cx="4000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Prime NYC Locations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28625" y="3793973"/>
            <a:ext cx="4000500" cy="1864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Lower Manhattan, Hell’s Kitchen, and Astoria.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14875" y="3502865"/>
            <a:ext cx="4000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Analysis Period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14875" y="3793973"/>
            <a:ext cx="4000500" cy="1864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6-month review from January to June 2023.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770381"/>
            <a:ext cx="82867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JUNE EMERGES AS PEAK PERFORMANCE MONTH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091975"/>
            <a:ext cx="5047059" cy="2857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819784" y="2091975"/>
            <a:ext cx="2952741" cy="290572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6" name="Shape 2"/>
          <p:cNvSpPr/>
          <p:nvPr/>
        </p:nvSpPr>
        <p:spPr>
          <a:xfrm>
            <a:off x="5819784" y="2091975"/>
            <a:ext cx="2952741" cy="5715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3"/>
          <p:cNvSpPr/>
          <p:nvPr/>
        </p:nvSpPr>
        <p:spPr>
          <a:xfrm>
            <a:off x="6034097" y="2449162"/>
            <a:ext cx="252411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100%+ Revenue Growth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034097" y="2758129"/>
            <a:ext cx="25241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doubled from R81.6k in January to R166.4k in June, showing strong momentum.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6034097" y="3279623"/>
            <a:ext cx="252411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Balanced Store Success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34097" y="3588590"/>
            <a:ext cx="25241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is remarkably balanced across all locations, with Hell's Kitchen leading slightly.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034097" y="4110084"/>
            <a:ext cx="252411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Steady Upward Trend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034097" y="4419051"/>
            <a:ext cx="25241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 month-over-month growth following a minor February dip.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71130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42265"/>
            <a:ext cx="82867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MORNING RUSH DRIVES NEARLY 50% OF DAILY REVENUE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922098"/>
            <a:ext cx="4543425" cy="2857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5775" y="5293770"/>
            <a:ext cx="45434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 Revenue distribution by time bucket across all locations.</a:t>
            </a:r>
            <a:endParaRPr lang="en-US" sz="850" dirty="0"/>
          </a:p>
        </p:txBody>
      </p:sp>
      <p:sp>
        <p:nvSpPr>
          <p:cNvPr id="6" name="Shape 2"/>
          <p:cNvSpPr/>
          <p:nvPr/>
        </p:nvSpPr>
        <p:spPr>
          <a:xfrm>
            <a:off x="5400675" y="1570392"/>
            <a:ext cx="3743325" cy="5091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3"/>
          <p:cNvSpPr/>
          <p:nvPr/>
        </p:nvSpPr>
        <p:spPr>
          <a:xfrm>
            <a:off x="5686425" y="2199042"/>
            <a:ext cx="30289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 FOCUS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686425" y="2656242"/>
            <a:ext cx="30289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MORNING DOMINANCE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686425" y="2959851"/>
            <a:ext cx="30289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07:00 - 11:00 window generates R71,985, making it the critical revenue engine for the business.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686425" y="3991342"/>
            <a:ext cx="30289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OPERATIONAL PRIORITY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686425" y="4294951"/>
            <a:ext cx="30289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Staffing and inventory must be optimized for the 7 AM - 10 AM peak to maximize throughput and customer satisfaction.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686425" y="5326442"/>
            <a:ext cx="30289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EVENING OPPORTUNITY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686425" y="5630051"/>
            <a:ext cx="30289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drop to R14,193 in the evening, representing a significant untapped market for late-day promotions.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746661"/>
            <a:ext cx="4629150" cy="1037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WEEKDAY TRAFFIC</a:t>
            </a:r>
            <a:r>
              <a:rPr lang="en-US" sz="22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2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OUTPACES WEEKENDS BY </a:t>
            </a:r>
            <a:r>
              <a:rPr lang="en-US" sz="22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2.5X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269675"/>
            <a:ext cx="4629150" cy="2857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00675" y="57150"/>
            <a:ext cx="3800475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2"/>
          <p:cNvSpPr/>
          <p:nvPr/>
        </p:nvSpPr>
        <p:spPr>
          <a:xfrm>
            <a:off x="5757863" y="685800"/>
            <a:ext cx="30861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 INSIGHTS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757863" y="1214438"/>
            <a:ext cx="30861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R107,510 </a:t>
            </a:r>
            <a:r>
              <a:rPr lang="en-US" sz="1000" b="1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(72%)</a:t>
            </a:r>
            <a:endParaRPr lang="en-US" sz="2450" dirty="0"/>
          </a:p>
        </p:txBody>
      </p:sp>
      <p:sp>
        <p:nvSpPr>
          <p:cNvPr id="8" name="Text 4"/>
          <p:cNvSpPr/>
          <p:nvPr/>
        </p:nvSpPr>
        <p:spPr>
          <a:xfrm>
            <a:off x="5757863" y="1668066"/>
            <a:ext cx="30861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WEEKDAY REVENUE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757863" y="1953816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Heavy reliance on the "commuter" and "office worker" demographic across all locations.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757863" y="2615282"/>
            <a:ext cx="30861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R41,606 </a:t>
            </a:r>
            <a:r>
              <a:rPr lang="en-US" sz="1000" b="1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(28%)</a:t>
            </a:r>
            <a:endParaRPr lang="en-US" sz="2450" dirty="0"/>
          </a:p>
        </p:txBody>
      </p:sp>
      <p:sp>
        <p:nvSpPr>
          <p:cNvPr id="11" name="Text 7"/>
          <p:cNvSpPr/>
          <p:nvPr/>
        </p:nvSpPr>
        <p:spPr>
          <a:xfrm>
            <a:off x="5757863" y="3068910"/>
            <a:ext cx="30861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WEEKEND REVENUE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757863" y="3354660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Opportunity to bridge the gap with "Weekend Family Bundles" or "Sunday Brunch Specials".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6305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770381"/>
            <a:ext cx="82867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COFFEE AND TEA ACCOUNT FOR 67% OF TOTAL SALES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091975"/>
            <a:ext cx="4936331" cy="3429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23529" y="2091975"/>
            <a:ext cx="3348996" cy="359570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2"/>
          <p:cNvSpPr/>
          <p:nvPr/>
        </p:nvSpPr>
        <p:spPr>
          <a:xfrm>
            <a:off x="5423529" y="2091975"/>
            <a:ext cx="3348996" cy="5715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3"/>
          <p:cNvSpPr/>
          <p:nvPr/>
        </p:nvSpPr>
        <p:spPr>
          <a:xfrm>
            <a:off x="5709279" y="2577750"/>
            <a:ext cx="277749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CORE PERFORMANCE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709279" y="2963512"/>
            <a:ext cx="277749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Undisputed Leaders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709279" y="3272479"/>
            <a:ext cx="277749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Coffee (R269k) and Tea (R196k) drive the vast majority of business revenue.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709279" y="3852518"/>
            <a:ext cx="277749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Bakery Attachment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709279" y="4161486"/>
            <a:ext cx="277749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Bakery items (R82k) show strong potential as high-margin complementary sales.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5709279" y="4741525"/>
            <a:ext cx="277749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Menu Optimization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709279" y="5050492"/>
            <a:ext cx="277749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Branded goods and packaged items contribute &lt;3%, suggesting room for menu simplification.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4554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746661"/>
            <a:ext cx="4629150" cy="1037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PRICE SENSITIVITY FAVORS</a:t>
            </a:r>
            <a:r>
              <a:rPr lang="en-US" sz="22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2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"CHEAP" &amp; "AFFORDABLE" </a:t>
            </a:r>
            <a:r>
              <a:rPr lang="en-US" sz="22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TIERS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269675"/>
            <a:ext cx="4629150" cy="2857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5775" y="5270050"/>
            <a:ext cx="46291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 Revenue distribution by affordability bucket (Cheap &lt; R10, Affordable R10-R20, Expensive &gt; R20).</a:t>
            </a:r>
            <a:endParaRPr lang="en-US" sz="750" dirty="0"/>
          </a:p>
        </p:txBody>
      </p:sp>
      <p:sp>
        <p:nvSpPr>
          <p:cNvPr id="6" name="Shape 2"/>
          <p:cNvSpPr/>
          <p:nvPr/>
        </p:nvSpPr>
        <p:spPr>
          <a:xfrm>
            <a:off x="5400675" y="57150"/>
            <a:ext cx="3800475" cy="545548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3"/>
          <p:cNvSpPr/>
          <p:nvPr/>
        </p:nvSpPr>
        <p:spPr>
          <a:xfrm>
            <a:off x="5757863" y="685800"/>
            <a:ext cx="30861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SPENDING BEHAVIOR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757863" y="1143000"/>
            <a:ext cx="3086100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99.8%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5757863" y="1544836"/>
            <a:ext cx="30861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VOLUME DOMINANCE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757863" y="1830586"/>
            <a:ext cx="30861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business model thrives on high-frequency, low-cost transactions. Over R148k comes from the "Cheap" tier.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757863" y="2733489"/>
            <a:ext cx="3086100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R165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5757863" y="3135325"/>
            <a:ext cx="30861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PREMIUM TIER REVENUE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757863" y="3421075"/>
            <a:ext cx="30861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High-end items contribute negligible revenue, confirming customers view Bright Coffee as a daily staple, not a luxury.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757863" y="4323978"/>
            <a:ext cx="30861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 ACTION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757863" y="4609728"/>
            <a:ext cx="30861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 competitive pricing on core beverages while using "Bakery Add-ons" to increase average transaction value.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746661"/>
            <a:ext cx="4629150" cy="1037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MID-MONTH SURGE</a:t>
            </a:r>
            <a:r>
              <a:rPr lang="en-US" sz="22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2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SUGGESTS PAYDAY </a:t>
            </a:r>
            <a:r>
              <a:rPr lang="en-US" sz="22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TRENDS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269675"/>
            <a:ext cx="4629150" cy="2857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00675" y="57150"/>
            <a:ext cx="3800475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2"/>
          <p:cNvSpPr/>
          <p:nvPr/>
        </p:nvSpPr>
        <p:spPr>
          <a:xfrm>
            <a:off x="5757863" y="685800"/>
            <a:ext cx="30861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SPENDING BEHAVIOR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757863" y="1278731"/>
            <a:ext cx="30861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STAPLE CONSUMPTION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757863" y="1564481"/>
            <a:ext cx="30861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remains remarkably stable across all periods, indicating that coffee is a daily staple rather than a luxury for our customers.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757863" y="2603116"/>
            <a:ext cx="30861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MID-MONTH PEAK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757863" y="2888866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slight surge to R51,512 during the second week suggests a correlation with bi-weekly payday cycles.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757863" y="3721782"/>
            <a:ext cx="30861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LTO OPPORTUNITY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757863" y="4007532"/>
            <a:ext cx="30861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Limited-time offers launched during the mid-month peak could further capitalize on increased consumer liquidity.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2129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746661"/>
            <a:ext cx="5014913" cy="1037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SEASONAL CATEGORY </a:t>
            </a:r>
            <a:r>
              <a:rPr lang="en-US" sz="22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GROWTH</a:t>
            </a:r>
            <a:r>
              <a:rPr lang="en-US" sz="22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2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ACROSS ALL LOCATIONS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269675"/>
            <a:ext cx="5014913" cy="300037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786438" y="57150"/>
            <a:ext cx="3414713" cy="521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2"/>
          <p:cNvSpPr/>
          <p:nvPr/>
        </p:nvSpPr>
        <p:spPr>
          <a:xfrm>
            <a:off x="6072188" y="685800"/>
            <a:ext cx="27003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GROWTH INSIGHTS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072188" y="1143000"/>
            <a:ext cx="27003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CONSISTENT SCALING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072188" y="1421606"/>
            <a:ext cx="2700338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product category, from Coffee to Loose Tea, saw sustained growth from March onwards.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072188" y="2290270"/>
            <a:ext cx="27003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SPRING/SUMMER SHIFT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072188" y="2568876"/>
            <a:ext cx="2700338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sharpest increase in Tea and Drinking Chocolate occurred in May/June, aligning with seasonal demand.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072188" y="3437539"/>
            <a:ext cx="27003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RESILIENCE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072188" y="3716145"/>
            <a:ext cx="2700338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 minor categories like "Flavours" saw a doubling in revenue over the 6-month period.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3834408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</a:t>
            </a:r>
            <a:r>
              <a:rPr lang="en-US" sz="24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4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RECOMMENDATIONS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867616"/>
            <a:ext cx="383440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27AE6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OPERATIONS &amp; PRICING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2205158"/>
            <a:ext cx="3834408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Operational Optimization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28625" y="2599851"/>
            <a:ext cx="383440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Increase staff during the morning peak (7 AM - 11 AM) to reduce wait times and capture more "rush" revenue.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28625" y="3154161"/>
            <a:ext cx="3834408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Pricing Strategy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8625" y="3548853"/>
            <a:ext cx="383440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Stick to the high-volume, affordable pricing model that customers clearly prefer, ensuring core beverage competitiveness.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48783" y="0"/>
            <a:ext cx="4595217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4977408" y="528638"/>
            <a:ext cx="3737967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27AE6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PRODUCT &amp; MARKETING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77408" y="866180"/>
            <a:ext cx="3737967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Expansion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77408" y="1117997"/>
            <a:ext cx="373796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 the Bakery and Tea menus to leverage their high growth potential and strong attachment to coffee sales.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977408" y="1672307"/>
            <a:ext cx="3737967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Targeted Marketing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977408" y="1924124"/>
            <a:ext cx="3737967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Launch weekend campaigns and evening "Happy Hour" deals to balance the weekly revenue distribution and fill slow periods.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977408" y="2684152"/>
            <a:ext cx="3737967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H2 2023 Goal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77408" y="2935970"/>
            <a:ext cx="373796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increasing the average transaction value through "Bakery Add-ons" and bundled morning deals.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571500"/>
            <a:ext cx="371475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PROVEN</a:t>
            </a:r>
            <a:r>
              <a:rPr lang="en-US" sz="2450" b="1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450" b="1" dirty="0">
                <a:solidFill>
                  <a:srgbClr val="E67E2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SUCCESS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28625" y="1554435"/>
            <a:ext cx="3714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27AE6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HEALTHY GROWTH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28625" y="1788393"/>
            <a:ext cx="3714750" cy="37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data confirms a robust, upward trajectory with revenue doubling over the first six months of 2023.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28625" y="2232701"/>
            <a:ext cx="3714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27AE6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BRAND PRESENCE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8625" y="2466659"/>
            <a:ext cx="3714750" cy="37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Strong, consistent performance across all three prime NYC locations establishes a solid foundation for scaling.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8625" y="2910967"/>
            <a:ext cx="3714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27AE6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LOYAL BASE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8625" y="3144924"/>
            <a:ext cx="3714750" cy="37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dependable weekday customer base provides stable recurring revenue and high operational predictability.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00625" y="571500"/>
            <a:ext cx="371475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FUTURE</a:t>
            </a:r>
            <a:r>
              <a:rPr lang="en-US" sz="24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45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OUTLOOK</a:t>
            </a:r>
            <a:endParaRPr lang="en-US" sz="2450" dirty="0"/>
          </a:p>
        </p:txBody>
      </p:sp>
      <p:sp>
        <p:nvSpPr>
          <p:cNvPr id="12" name="Shape 9"/>
          <p:cNvSpPr/>
          <p:nvPr/>
        </p:nvSpPr>
        <p:spPr>
          <a:xfrm>
            <a:off x="5000625" y="1740173"/>
            <a:ext cx="3714750" cy="232886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3" name="Shape 10"/>
          <p:cNvSpPr/>
          <p:nvPr/>
        </p:nvSpPr>
        <p:spPr>
          <a:xfrm>
            <a:off x="5000625" y="1740173"/>
            <a:ext cx="3714750" cy="5715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5229225" y="1868760"/>
            <a:ext cx="32575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strategically addressing the </a:t>
            </a:r>
            <a:r>
              <a:rPr lang="en-US" sz="12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weekend </a:t>
            </a:r>
            <a:r>
              <a:rPr lang="en-US" sz="12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evening revenue gaps</a:t>
            </a:r>
            <a:r>
              <a:rPr lang="en-US" sz="12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Bright Coffee </a:t>
            </a:r>
            <a:r>
              <a:rPr lang="en-US" sz="12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Shop is exceptionally well-positioned for </a:t>
            </a:r>
            <a:r>
              <a:rPr lang="en-US" sz="12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r>
              <a:rPr lang="en-US" sz="12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record-breaking second half of the </a:t>
            </a:r>
            <a:r>
              <a:rPr lang="en-US" sz="12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year</a:t>
            </a:r>
            <a:r>
              <a:rPr lang="en-US" sz="12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229225" y="3240360"/>
            <a:ext cx="32575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"The transition from a morning staple to an all-day destination is the key to unlocking our next phase of growth."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431596"/>
            <a:ext cx="5143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20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THANK</a:t>
            </a:r>
            <a:r>
              <a:rPr lang="en-US" sz="620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620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YOU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571500" y="3660446"/>
            <a:ext cx="5143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VHONANI MPHOSHOMALE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4110503"/>
            <a:ext cx="5143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Analytics Consultant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1500" y="4387323"/>
            <a:ext cx="5143500" cy="19466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"Turning Data into Delicious Decisions."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2026-05-23T07:46:40Z</dcterms:created>
  <dcterms:modified xsi:type="dcterms:W3CDTF">2026-05-23T07:46:40Z</dcterms:modified>
</cp:coreProperties>
</file>